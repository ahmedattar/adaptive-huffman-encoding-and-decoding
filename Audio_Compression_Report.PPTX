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C3EF7-9116-4A0E-93AB-AF72E042D99E}" type="datetimeFigureOut">
              <a:rPr lang="en-US" smtClean="0"/>
              <a:t>4/22/2018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37299-86A9-4442-B56C-6C7D055F7F4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6283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C3EF7-9116-4A0E-93AB-AF72E042D99E}" type="datetimeFigureOut">
              <a:rPr lang="en-US" smtClean="0"/>
              <a:t>4/22/2018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37299-86A9-4442-B56C-6C7D055F7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236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C3EF7-9116-4A0E-93AB-AF72E042D99E}" type="datetimeFigureOut">
              <a:rPr lang="en-US" smtClean="0"/>
              <a:t>4/22/2018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37299-86A9-4442-B56C-6C7D055F7F4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2351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C3EF7-9116-4A0E-93AB-AF72E042D99E}" type="datetimeFigureOut">
              <a:rPr lang="en-US" smtClean="0"/>
              <a:t>4/22/2018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37299-86A9-4442-B56C-6C7D055F7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546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C3EF7-9116-4A0E-93AB-AF72E042D99E}" type="datetimeFigureOut">
              <a:rPr lang="en-US" smtClean="0"/>
              <a:t>4/22/2018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37299-86A9-4442-B56C-6C7D055F7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516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C3EF7-9116-4A0E-93AB-AF72E042D99E}" type="datetimeFigureOut">
              <a:rPr lang="en-US" smtClean="0"/>
              <a:t>4/22/2018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37299-86A9-4442-B56C-6C7D055F7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50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C3EF7-9116-4A0E-93AB-AF72E042D99E}" type="datetimeFigureOut">
              <a:rPr lang="en-US" smtClean="0"/>
              <a:t>4/22/2018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37299-86A9-4442-B56C-6C7D055F7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829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DBC3EF7-9116-4A0E-93AB-AF72E042D99E}" type="datetimeFigureOut">
              <a:rPr lang="en-US" smtClean="0"/>
              <a:t>4/22/2018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3F37299-86A9-4442-B56C-6C7D055F7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468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C3EF7-9116-4A0E-93AB-AF72E042D99E}" type="datetimeFigureOut">
              <a:rPr lang="en-US" smtClean="0"/>
              <a:t>4/22/2018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37299-86A9-4442-B56C-6C7D055F7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175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C3EF7-9116-4A0E-93AB-AF72E042D99E}" type="datetimeFigureOut">
              <a:rPr lang="en-US" smtClean="0"/>
              <a:t>4/22/2018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37299-86A9-4442-B56C-6C7D055F7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087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C3EF7-9116-4A0E-93AB-AF72E042D99E}" type="datetimeFigureOut">
              <a:rPr lang="en-US" smtClean="0"/>
              <a:t>4/22/2018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37299-86A9-4442-B56C-6C7D055F7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834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DBC3EF7-9116-4A0E-93AB-AF72E042D99E}" type="datetimeFigureOut">
              <a:rPr lang="en-US" smtClean="0"/>
              <a:t>4/22/2018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3F37299-86A9-4442-B56C-6C7D055F7F4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5900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2732393"/>
          </a:xfrm>
        </p:spPr>
        <p:txBody>
          <a:bodyPr/>
          <a:lstStyle/>
          <a:p>
            <a:pPr algn="ctr"/>
            <a:r>
              <a:rPr lang="en-US" b="1" dirty="0" smtClean="0"/>
              <a:t> “Audio Compression “ Report 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391891"/>
            <a:ext cx="10058400" cy="1648691"/>
          </a:xfrm>
        </p:spPr>
        <p:txBody>
          <a:bodyPr>
            <a:normAutofit fontScale="92500" lnSpcReduction="20000"/>
          </a:bodyPr>
          <a:lstStyle/>
          <a:p>
            <a:endParaRPr lang="en-US" b="1" dirty="0" smtClean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r>
              <a:rPr lang="en-US" b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Made by : Ahmed Mahmoud </a:t>
            </a:r>
            <a:r>
              <a:rPr lang="en-US" b="1" dirty="0" err="1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Abdulfattah</a:t>
            </a:r>
            <a:r>
              <a:rPr lang="en-US" b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 Ahmed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Bench No : 10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Section No : 1</a:t>
            </a:r>
            <a:endParaRPr lang="en-US" b="1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248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5400" b="1" dirty="0" smtClean="0"/>
              <a:t>Why we need to develop audio compression techniques ?</a:t>
            </a:r>
            <a:endParaRPr lang="en-US" sz="5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291830"/>
          </a:xfrm>
        </p:spPr>
        <p:txBody>
          <a:bodyPr>
            <a:noAutofit/>
          </a:bodyPr>
          <a:lstStyle/>
          <a:p>
            <a:endParaRPr lang="en-US" sz="2200" b="1" dirty="0" smtClean="0">
              <a:latin typeface="Arial Narrow" panose="020B0606020202030204" pitchFamily="34" charset="0"/>
              <a:cs typeface="Andalus" panose="02020603050405020304" pitchFamily="18" charset="-78"/>
            </a:endParaRPr>
          </a:p>
          <a:p>
            <a:r>
              <a:rPr lang="en-US" sz="2200" b="1" dirty="0" smtClean="0">
                <a:latin typeface="Arial Narrow" panose="020B0606020202030204" pitchFamily="34" charset="0"/>
                <a:cs typeface="Andalus" panose="02020603050405020304" pitchFamily="18" charset="-78"/>
              </a:rPr>
              <a:t>The </a:t>
            </a:r>
            <a:r>
              <a:rPr lang="en-US" sz="2200" b="1" dirty="0">
                <a:latin typeface="Arial Narrow" panose="020B0606020202030204" pitchFamily="34" charset="0"/>
                <a:cs typeface="Andalus" panose="02020603050405020304" pitchFamily="18" charset="-78"/>
              </a:rPr>
              <a:t>motivation for the development of many of these perceptual coders was their</a:t>
            </a:r>
          </a:p>
          <a:p>
            <a:r>
              <a:rPr lang="en-US" sz="2200" b="1" dirty="0">
                <a:latin typeface="Arial Narrow" panose="020B0606020202030204" pitchFamily="34" charset="0"/>
                <a:cs typeface="Andalus" panose="02020603050405020304" pitchFamily="18" charset="-78"/>
              </a:rPr>
              <a:t>potential application in broadcast multimedia. However, their major impact has been in the</a:t>
            </a:r>
          </a:p>
          <a:p>
            <a:r>
              <a:rPr lang="en-US" sz="2200" b="1" dirty="0">
                <a:latin typeface="Arial Narrow" panose="020B0606020202030204" pitchFamily="34" charset="0"/>
                <a:cs typeface="Andalus" panose="02020603050405020304" pitchFamily="18" charset="-78"/>
              </a:rPr>
              <a:t>distribution of audio over the Internet</a:t>
            </a:r>
            <a:r>
              <a:rPr lang="en-US" sz="2200" b="1" dirty="0" smtClean="0">
                <a:latin typeface="Arial Narrow" panose="020B0606020202030204" pitchFamily="34" charset="0"/>
                <a:cs typeface="Andalus" panose="02020603050405020304" pitchFamily="18" charset="-78"/>
              </a:rPr>
              <a:t>.</a:t>
            </a:r>
          </a:p>
          <a:p>
            <a:r>
              <a:rPr lang="en-US" sz="2200" b="1" dirty="0">
                <a:latin typeface="Arial Narrow" panose="020B0606020202030204" pitchFamily="34" charset="0"/>
                <a:cs typeface="Andalus" panose="02020603050405020304" pitchFamily="18" charset="-78"/>
              </a:rPr>
              <a:t>We live in an environment rich in auditory stimuli. Even an environment described as</a:t>
            </a:r>
          </a:p>
          <a:p>
            <a:r>
              <a:rPr lang="en-US" sz="2200" b="1" dirty="0">
                <a:latin typeface="Arial Narrow" panose="020B0606020202030204" pitchFamily="34" charset="0"/>
                <a:cs typeface="Andalus" panose="02020603050405020304" pitchFamily="18" charset="-78"/>
              </a:rPr>
              <a:t>quiet is filled with all kinds of natural and artificial sounds. The sounds are always present </a:t>
            </a:r>
            <a:r>
              <a:rPr lang="en-US" sz="2200" b="1" dirty="0" smtClean="0">
                <a:latin typeface="Arial Narrow" panose="020B0606020202030204" pitchFamily="34" charset="0"/>
                <a:cs typeface="Andalus" panose="02020603050405020304" pitchFamily="18" charset="-78"/>
              </a:rPr>
              <a:t>and come </a:t>
            </a:r>
            <a:r>
              <a:rPr lang="en-US" sz="2200" b="1" dirty="0">
                <a:latin typeface="Arial Narrow" panose="020B0606020202030204" pitchFamily="34" charset="0"/>
                <a:cs typeface="Andalus" panose="02020603050405020304" pitchFamily="18" charset="-78"/>
              </a:rPr>
              <a:t>to us from all directions. Living in this stimulus-rich environment, it is essential that </a:t>
            </a:r>
            <a:r>
              <a:rPr lang="en-US" sz="2200" b="1" dirty="0" smtClean="0">
                <a:latin typeface="Arial Narrow" panose="020B0606020202030204" pitchFamily="34" charset="0"/>
                <a:cs typeface="Andalus" panose="02020603050405020304" pitchFamily="18" charset="-78"/>
              </a:rPr>
              <a:t>we have </a:t>
            </a:r>
            <a:r>
              <a:rPr lang="en-US" sz="2200" b="1" dirty="0">
                <a:latin typeface="Arial Narrow" panose="020B0606020202030204" pitchFamily="34" charset="0"/>
                <a:cs typeface="Andalus" panose="02020603050405020304" pitchFamily="18" charset="-78"/>
              </a:rPr>
              <a:t>mechanisms for ignoring some of the stimuli and focusing on others.</a:t>
            </a:r>
          </a:p>
        </p:txBody>
      </p:sp>
    </p:spTree>
    <p:extLst>
      <p:ext uri="{BB962C8B-B14F-4D97-AF65-F5344CB8AC3E}">
        <p14:creationId xmlns:p14="http://schemas.microsoft.com/office/powerpoint/2010/main" val="3980680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11270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01090"/>
            <a:ext cx="10058400" cy="4405746"/>
          </a:xfrm>
        </p:spPr>
        <p:txBody>
          <a:bodyPr>
            <a:noAutofit/>
          </a:bodyPr>
          <a:lstStyle/>
          <a:p>
            <a:endParaRPr lang="en-US" sz="2200" b="1" dirty="0" smtClean="0">
              <a:latin typeface="Arial Narrow" panose="020B0606020202030204" pitchFamily="34" charset="0"/>
              <a:cs typeface="Andalus" panose="02020603050405020304" pitchFamily="18" charset="-78"/>
            </a:endParaRPr>
          </a:p>
          <a:p>
            <a:r>
              <a:rPr lang="en-US" sz="2200" b="1" dirty="0" smtClean="0">
                <a:latin typeface="Arial Narrow" panose="020B0606020202030204" pitchFamily="34" charset="0"/>
                <a:cs typeface="Andalus" panose="02020603050405020304" pitchFamily="18" charset="-78"/>
              </a:rPr>
              <a:t>Over </a:t>
            </a:r>
            <a:r>
              <a:rPr lang="en-US" sz="2200" b="1" dirty="0">
                <a:latin typeface="Arial Narrow" panose="020B0606020202030204" pitchFamily="34" charset="0"/>
                <a:cs typeface="Andalus" panose="02020603050405020304" pitchFamily="18" charset="-78"/>
              </a:rPr>
              <a:t>the course </a:t>
            </a:r>
            <a:r>
              <a:rPr lang="en-US" sz="2200" b="1" dirty="0" smtClean="0">
                <a:latin typeface="Arial Narrow" panose="020B0606020202030204" pitchFamily="34" charset="0"/>
                <a:cs typeface="Andalus" panose="02020603050405020304" pitchFamily="18" charset="-78"/>
              </a:rPr>
              <a:t>of our </a:t>
            </a:r>
            <a:r>
              <a:rPr lang="en-US" sz="2200" b="1" dirty="0">
                <a:latin typeface="Arial Narrow" panose="020B0606020202030204" pitchFamily="34" charset="0"/>
                <a:cs typeface="Andalus" panose="02020603050405020304" pitchFamily="18" charset="-78"/>
              </a:rPr>
              <a:t>evolutionary history we have developed limitations on what we can hear. Some of </a:t>
            </a:r>
            <a:r>
              <a:rPr lang="en-US" sz="2200" b="1" dirty="0" smtClean="0">
                <a:latin typeface="Arial Narrow" panose="020B0606020202030204" pitchFamily="34" charset="0"/>
                <a:cs typeface="Andalus" panose="02020603050405020304" pitchFamily="18" charset="-78"/>
              </a:rPr>
              <a:t>these  limitations </a:t>
            </a:r>
            <a:r>
              <a:rPr lang="en-US" sz="2200" b="1" dirty="0">
                <a:latin typeface="Arial Narrow" panose="020B0606020202030204" pitchFamily="34" charset="0"/>
                <a:cs typeface="Andalus" panose="02020603050405020304" pitchFamily="18" charset="-78"/>
              </a:rPr>
              <a:t>are </a:t>
            </a:r>
            <a:r>
              <a:rPr lang="en-US" sz="2200" b="1" dirty="0" smtClean="0">
                <a:latin typeface="Arial Narrow" panose="020B0606020202030204" pitchFamily="34" charset="0"/>
                <a:cs typeface="Andalus" panose="02020603050405020304" pitchFamily="18" charset="-78"/>
              </a:rPr>
              <a:t>physiological ( depend on the physical form of us ), </a:t>
            </a:r>
            <a:r>
              <a:rPr lang="en-US" sz="2200" b="1" dirty="0">
                <a:latin typeface="Arial Narrow" panose="020B0606020202030204" pitchFamily="34" charset="0"/>
                <a:cs typeface="Andalus" panose="02020603050405020304" pitchFamily="18" charset="-78"/>
              </a:rPr>
              <a:t>based on the machinery of hearing. Others are </a:t>
            </a:r>
            <a:r>
              <a:rPr lang="en-US" sz="2200" b="1" dirty="0" smtClean="0">
                <a:latin typeface="Arial Narrow" panose="020B0606020202030204" pitchFamily="34" charset="0"/>
                <a:cs typeface="Andalus" panose="02020603050405020304" pitchFamily="18" charset="-78"/>
              </a:rPr>
              <a:t>psychological ( depend on our not physical form , but “ hidden “ processes in us ) , based </a:t>
            </a:r>
            <a:r>
              <a:rPr lang="en-US" sz="2200" b="1" dirty="0">
                <a:latin typeface="Arial Narrow" panose="020B0606020202030204" pitchFamily="34" charset="0"/>
                <a:cs typeface="Andalus" panose="02020603050405020304" pitchFamily="18" charset="-78"/>
              </a:rPr>
              <a:t>on how our brain processes auditory stimuli. The insight of researchers in audio </a:t>
            </a:r>
            <a:r>
              <a:rPr lang="en-US" sz="2200" b="1" dirty="0" smtClean="0">
                <a:latin typeface="Arial Narrow" panose="020B0606020202030204" pitchFamily="34" charset="0"/>
                <a:cs typeface="Andalus" panose="02020603050405020304" pitchFamily="18" charset="-78"/>
              </a:rPr>
              <a:t>coding has </a:t>
            </a:r>
            <a:r>
              <a:rPr lang="en-US" sz="2200" b="1" dirty="0">
                <a:latin typeface="Arial Narrow" panose="020B0606020202030204" pitchFamily="34" charset="0"/>
                <a:cs typeface="Andalus" panose="02020603050405020304" pitchFamily="18" charset="-78"/>
              </a:rPr>
              <a:t>been the understanding that these limitations can be useful in selecting information </a:t>
            </a:r>
            <a:r>
              <a:rPr lang="en-US" sz="2200" b="1" dirty="0" smtClean="0">
                <a:latin typeface="Arial Narrow" panose="020B0606020202030204" pitchFamily="34" charset="0"/>
                <a:cs typeface="Andalus" panose="02020603050405020304" pitchFamily="18" charset="-78"/>
              </a:rPr>
              <a:t>that needs </a:t>
            </a:r>
            <a:r>
              <a:rPr lang="en-US" sz="2200" b="1" dirty="0">
                <a:latin typeface="Arial Narrow" panose="020B0606020202030204" pitchFamily="34" charset="0"/>
                <a:cs typeface="Andalus" panose="02020603050405020304" pitchFamily="18" charset="-78"/>
              </a:rPr>
              <a:t>to be encoded and information that can be discarded. The limitations of human </a:t>
            </a:r>
            <a:r>
              <a:rPr lang="en-US" sz="2200" b="1" dirty="0" smtClean="0">
                <a:latin typeface="Arial Narrow" panose="020B0606020202030204" pitchFamily="34" charset="0"/>
                <a:cs typeface="Andalus" panose="02020603050405020304" pitchFamily="18" charset="-78"/>
              </a:rPr>
              <a:t>perception are </a:t>
            </a:r>
            <a:r>
              <a:rPr lang="en-US" sz="2200" b="1" dirty="0">
                <a:latin typeface="Arial Narrow" panose="020B0606020202030204" pitchFamily="34" charset="0"/>
                <a:cs typeface="Andalus" panose="02020603050405020304" pitchFamily="18" charset="-78"/>
              </a:rPr>
              <a:t>incorporated into the compression process through the use of psychoacoustic models. </a:t>
            </a:r>
            <a:r>
              <a:rPr lang="en-US" sz="2200" b="1" dirty="0" smtClean="0">
                <a:latin typeface="Arial Narrow" panose="020B0606020202030204" pitchFamily="34" charset="0"/>
                <a:cs typeface="Andalus" panose="02020603050405020304" pitchFamily="18" charset="-78"/>
              </a:rPr>
              <a:t>We briefly </a:t>
            </a:r>
            <a:r>
              <a:rPr lang="en-US" sz="2200" b="1" dirty="0">
                <a:latin typeface="Arial Narrow" panose="020B0606020202030204" pitchFamily="34" charset="0"/>
                <a:cs typeface="Andalus" panose="02020603050405020304" pitchFamily="18" charset="-78"/>
              </a:rPr>
              <a:t>describe the auditory model used by the most popular audio compression approaches</a:t>
            </a:r>
            <a:r>
              <a:rPr lang="en-US" sz="2200" b="1" dirty="0" smtClean="0">
                <a:latin typeface="Arial Narrow" panose="020B0606020202030204" pitchFamily="34" charset="0"/>
                <a:cs typeface="Andalus" panose="02020603050405020304" pitchFamily="18" charset="-78"/>
              </a:rPr>
              <a:t>.</a:t>
            </a:r>
            <a:endParaRPr lang="en-US" sz="2200" b="1" dirty="0">
              <a:latin typeface="Arial Narrow" panose="020B0606020202030204" pitchFamily="34" charset="0"/>
              <a:cs typeface="Andalus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98192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5400" b="1" dirty="0" smtClean="0"/>
              <a:t>What is the main factor of our machinery of hearing mechanism ? </a:t>
            </a:r>
            <a:endParaRPr lang="en-US" sz="5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The machinery of hearing is frequency dependent. The variation of what is perceived as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equally loud at different frequencies was first measured by Fletcher and Munson at Bell Labs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in the mid-1930s . These measurements of perceptual equivalence were later refined by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Robinson and </a:t>
            </a:r>
            <a:r>
              <a:rPr lang="en-US" b="1" dirty="0" err="1">
                <a:latin typeface="Arial Narrow" panose="020B0606020202030204" pitchFamily="34" charset="0"/>
              </a:rPr>
              <a:t>Dadson</a:t>
            </a:r>
            <a:r>
              <a:rPr lang="en-US" b="1" dirty="0">
                <a:latin typeface="Arial Narrow" panose="020B0606020202030204" pitchFamily="34" charset="0"/>
              </a:rPr>
              <a:t>. Clearly, what two people think of as equally loud will be different. Therefore,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these curves are actually averages and serve as a guide to human auditory perception. The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particular curve that is of special interest to us is the threshold-of-hearing curve. This is the SPL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curve that delineates the boundary of audible and inaudible sounds at different frequencies.</a:t>
            </a:r>
          </a:p>
        </p:txBody>
      </p:sp>
    </p:spTree>
    <p:extLst>
      <p:ext uri="{BB962C8B-B14F-4D97-AF65-F5344CB8AC3E}">
        <p14:creationId xmlns:p14="http://schemas.microsoft.com/office/powerpoint/2010/main" val="711269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5400" b="1" dirty="0" smtClean="0"/>
              <a:t>The main techniques for audio compression :</a:t>
            </a:r>
            <a:endParaRPr lang="en-US" sz="5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Arial Narrow" panose="020B0606020202030204" pitchFamily="34" charset="0"/>
              </a:rPr>
              <a:t>MPEG family techniques :  </a:t>
            </a:r>
            <a:r>
              <a:rPr lang="en-US" b="1" dirty="0">
                <a:latin typeface="Arial Narrow" panose="020B0606020202030204" pitchFamily="34" charset="0"/>
              </a:rPr>
              <a:t>known as Layer I, Layer II, and Layer III. The Layer III audio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compression algorithm is also referred to as mp3</a:t>
            </a:r>
            <a:r>
              <a:rPr lang="en-US" b="1" dirty="0" smtClean="0">
                <a:latin typeface="Arial Narrow" panose="020B0606020202030204" pitchFamily="34" charset="0"/>
              </a:rPr>
              <a:t>.</a:t>
            </a:r>
          </a:p>
          <a:p>
            <a:r>
              <a:rPr lang="en-US" b="1" dirty="0" smtClean="0">
                <a:latin typeface="Arial Narrow" panose="020B0606020202030204" pitchFamily="34" charset="0"/>
              </a:rPr>
              <a:t>Layer 1 compression ratio : 4:1</a:t>
            </a:r>
          </a:p>
          <a:p>
            <a:r>
              <a:rPr lang="en-US" b="1" dirty="0" smtClean="0">
                <a:latin typeface="Arial Narrow" panose="020B0606020202030204" pitchFamily="34" charset="0"/>
              </a:rPr>
              <a:t>Layer 2 compression </a:t>
            </a:r>
            <a:r>
              <a:rPr lang="en-US" b="1" dirty="0">
                <a:latin typeface="Arial Narrow" panose="020B0606020202030204" pitchFamily="34" charset="0"/>
              </a:rPr>
              <a:t>ratio : </a:t>
            </a:r>
            <a:r>
              <a:rPr lang="en-US" b="1" dirty="0" smtClean="0">
                <a:latin typeface="Arial Narrow" panose="020B0606020202030204" pitchFamily="34" charset="0"/>
              </a:rPr>
              <a:t>8:1 or 6:1</a:t>
            </a:r>
            <a:endParaRPr lang="en-US" b="1" dirty="0">
              <a:latin typeface="Arial Narrow" panose="020B0606020202030204" pitchFamily="34" charset="0"/>
            </a:endParaRPr>
          </a:p>
          <a:p>
            <a:r>
              <a:rPr lang="en-US" b="1" dirty="0">
                <a:latin typeface="Arial Narrow" panose="020B0606020202030204" pitchFamily="34" charset="0"/>
              </a:rPr>
              <a:t>Layer </a:t>
            </a:r>
            <a:r>
              <a:rPr lang="en-US" b="1" dirty="0" smtClean="0">
                <a:latin typeface="Arial Narrow" panose="020B0606020202030204" pitchFamily="34" charset="0"/>
              </a:rPr>
              <a:t>3 ( MP3) </a:t>
            </a:r>
            <a:r>
              <a:rPr lang="en-US" b="1" dirty="0">
                <a:latin typeface="Arial Narrow" panose="020B0606020202030204" pitchFamily="34" charset="0"/>
              </a:rPr>
              <a:t>compression ratio : </a:t>
            </a:r>
            <a:r>
              <a:rPr lang="en-US" b="1" dirty="0" smtClean="0">
                <a:latin typeface="Arial Narrow" panose="020B0606020202030204" pitchFamily="34" charset="0"/>
              </a:rPr>
              <a:t>10:1</a:t>
            </a:r>
          </a:p>
          <a:p>
            <a:r>
              <a:rPr lang="en-US" b="1" dirty="0" smtClean="0">
                <a:latin typeface="Arial Narrow" panose="020B0606020202030204" pitchFamily="34" charset="0"/>
              </a:rPr>
              <a:t>The major </a:t>
            </a:r>
            <a:r>
              <a:rPr lang="en-US" b="1" dirty="0">
                <a:latin typeface="Arial Narrow" panose="020B0606020202030204" pitchFamily="34" charset="0"/>
              </a:rPr>
              <a:t>difference between the Layer I and Layer II coding schemes is in the quantization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step. In the Layer I coding scheme the output of each </a:t>
            </a:r>
            <a:r>
              <a:rPr lang="en-US" b="1" dirty="0" err="1">
                <a:latin typeface="Arial Narrow" panose="020B0606020202030204" pitchFamily="34" charset="0"/>
              </a:rPr>
              <a:t>subband</a:t>
            </a:r>
            <a:r>
              <a:rPr lang="en-US" b="1" dirty="0">
                <a:latin typeface="Arial Narrow" panose="020B0606020202030204" pitchFamily="34" charset="0"/>
              </a:rPr>
              <a:t> is quantized using one of 14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possibilities; the same 14 possibilities are available for each of the </a:t>
            </a:r>
            <a:r>
              <a:rPr lang="en-US" b="1" dirty="0" err="1" smtClean="0">
                <a:latin typeface="Arial Narrow" panose="020B0606020202030204" pitchFamily="34" charset="0"/>
              </a:rPr>
              <a:t>subbands</a:t>
            </a:r>
            <a:r>
              <a:rPr lang="en-US" b="1" dirty="0" smtClean="0">
                <a:latin typeface="Arial Narrow" panose="020B0606020202030204" pitchFamily="34" charset="0"/>
              </a:rPr>
              <a:t>.</a:t>
            </a:r>
            <a:endParaRPr lang="en-US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039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19539"/>
          </a:xfrm>
        </p:spPr>
        <p:txBody>
          <a:bodyPr>
            <a:normAutofit lnSpcReduction="10000"/>
          </a:bodyPr>
          <a:lstStyle/>
          <a:p>
            <a:r>
              <a:rPr lang="en-US" b="1" dirty="0" smtClean="0">
                <a:latin typeface="Arial Narrow" panose="020B0606020202030204" pitchFamily="34" charset="0"/>
              </a:rPr>
              <a:t> </a:t>
            </a:r>
            <a:r>
              <a:rPr lang="en-US" b="1" dirty="0">
                <a:latin typeface="Arial Narrow" panose="020B0606020202030204" pitchFamily="34" charset="0"/>
              </a:rPr>
              <a:t>In Layer </a:t>
            </a:r>
            <a:r>
              <a:rPr lang="en-US" b="1" dirty="0" smtClean="0">
                <a:latin typeface="Arial Narrow" panose="020B0606020202030204" pitchFamily="34" charset="0"/>
              </a:rPr>
              <a:t>II :</a:t>
            </a:r>
            <a:endParaRPr lang="en-US" b="1" dirty="0">
              <a:latin typeface="Arial Narrow" panose="020B0606020202030204" pitchFamily="34" charset="0"/>
            </a:endParaRPr>
          </a:p>
          <a:p>
            <a:r>
              <a:rPr lang="en-US" b="1" dirty="0">
                <a:latin typeface="Arial Narrow" panose="020B0606020202030204" pitchFamily="34" charset="0"/>
              </a:rPr>
              <a:t>coding the </a:t>
            </a:r>
            <a:r>
              <a:rPr lang="en-US" b="1" dirty="0" err="1">
                <a:latin typeface="Arial Narrow" panose="020B0606020202030204" pitchFamily="34" charset="0"/>
              </a:rPr>
              <a:t>quantizers</a:t>
            </a:r>
            <a:r>
              <a:rPr lang="en-US" b="1" dirty="0">
                <a:latin typeface="Arial Narrow" panose="020B0606020202030204" pitchFamily="34" charset="0"/>
              </a:rPr>
              <a:t> used for each of the </a:t>
            </a:r>
            <a:r>
              <a:rPr lang="en-US" b="1" dirty="0" err="1">
                <a:latin typeface="Arial Narrow" panose="020B0606020202030204" pitchFamily="34" charset="0"/>
              </a:rPr>
              <a:t>subbands</a:t>
            </a:r>
            <a:r>
              <a:rPr lang="en-US" b="1" dirty="0">
                <a:latin typeface="Arial Narrow" panose="020B0606020202030204" pitchFamily="34" charset="0"/>
              </a:rPr>
              <a:t> can be selected from a different set of</a:t>
            </a:r>
          </a:p>
          <a:p>
            <a:r>
              <a:rPr lang="en-US" b="1" dirty="0" err="1">
                <a:latin typeface="Arial Narrow" panose="020B0606020202030204" pitchFamily="34" charset="0"/>
              </a:rPr>
              <a:t>quantizers</a:t>
            </a:r>
            <a:r>
              <a:rPr lang="en-US" b="1" dirty="0">
                <a:latin typeface="Arial Narrow" panose="020B0606020202030204" pitchFamily="34" charset="0"/>
              </a:rPr>
              <a:t> depending on the sampling rate and the bit rates. For some sampling rate and bit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rate combinations, many of the higher </a:t>
            </a:r>
            <a:r>
              <a:rPr lang="en-US" b="1" dirty="0" err="1">
                <a:latin typeface="Arial Narrow" panose="020B0606020202030204" pitchFamily="34" charset="0"/>
              </a:rPr>
              <a:t>subbands</a:t>
            </a:r>
            <a:r>
              <a:rPr lang="en-US" b="1" dirty="0">
                <a:latin typeface="Arial Narrow" panose="020B0606020202030204" pitchFamily="34" charset="0"/>
              </a:rPr>
              <a:t> are assigned 0 bits. That is, the information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from those </a:t>
            </a:r>
            <a:r>
              <a:rPr lang="en-US" b="1" dirty="0" err="1">
                <a:latin typeface="Arial Narrow" panose="020B0606020202030204" pitchFamily="34" charset="0"/>
              </a:rPr>
              <a:t>subbands</a:t>
            </a:r>
            <a:r>
              <a:rPr lang="en-US" b="1" dirty="0">
                <a:latin typeface="Arial Narrow" panose="020B0606020202030204" pitchFamily="34" charset="0"/>
              </a:rPr>
              <a:t> is simply discarded. Where the </a:t>
            </a:r>
            <a:r>
              <a:rPr lang="en-US" b="1" dirty="0" err="1">
                <a:latin typeface="Arial Narrow" panose="020B0606020202030204" pitchFamily="34" charset="0"/>
              </a:rPr>
              <a:t>quantizer</a:t>
            </a:r>
            <a:r>
              <a:rPr lang="en-US" b="1" dirty="0">
                <a:latin typeface="Arial Narrow" panose="020B0606020202030204" pitchFamily="34" charset="0"/>
              </a:rPr>
              <a:t> selected has 3, 5, or 9 levels,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the Layer II coding scheme uses one more enhancement</a:t>
            </a:r>
            <a:r>
              <a:rPr lang="en-US" b="1" dirty="0" smtClean="0">
                <a:latin typeface="Arial Narrow" panose="020B0606020202030204" pitchFamily="34" charset="0"/>
              </a:rPr>
              <a:t>.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Layer III coding, which has become widely popular under the namemp3, is </a:t>
            </a:r>
            <a:r>
              <a:rPr lang="en-US" b="1" dirty="0" smtClean="0">
                <a:latin typeface="Arial Narrow" panose="020B0606020202030204" pitchFamily="34" charset="0"/>
              </a:rPr>
              <a:t>considerably more</a:t>
            </a:r>
            <a:endParaRPr lang="en-US" b="1" dirty="0">
              <a:latin typeface="Arial Narrow" panose="020B0606020202030204" pitchFamily="34" charset="0"/>
            </a:endParaRPr>
          </a:p>
          <a:p>
            <a:r>
              <a:rPr lang="en-US" b="1" dirty="0">
                <a:latin typeface="Arial Narrow" panose="020B0606020202030204" pitchFamily="34" charset="0"/>
              </a:rPr>
              <a:t>complex than the Layer I and Layer II coding schemes. One of the problems with the Layer I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and II coding schemes was that with 32-band decomposition, the bandwidth of the </a:t>
            </a:r>
            <a:r>
              <a:rPr lang="en-US" b="1" dirty="0" err="1" smtClean="0">
                <a:latin typeface="Arial Narrow" panose="020B0606020202030204" pitchFamily="34" charset="0"/>
              </a:rPr>
              <a:t>subbands</a:t>
            </a:r>
            <a:r>
              <a:rPr lang="en-US" b="1" dirty="0" smtClean="0">
                <a:latin typeface="Arial Narrow" panose="020B0606020202030204" pitchFamily="34" charset="0"/>
              </a:rPr>
              <a:t> </a:t>
            </a:r>
            <a:r>
              <a:rPr lang="en-US" b="1" dirty="0">
                <a:latin typeface="Arial Narrow" panose="020B0606020202030204" pitchFamily="34" charset="0"/>
              </a:rPr>
              <a:t>at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lower frequencies is significantly larger than the critical bands.</a:t>
            </a:r>
          </a:p>
        </p:txBody>
      </p:sp>
    </p:spTree>
    <p:extLst>
      <p:ext uri="{BB962C8B-B14F-4D97-AF65-F5344CB8AC3E}">
        <p14:creationId xmlns:p14="http://schemas.microsoft.com/office/powerpoint/2010/main" val="2051355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rial Narrow" panose="020B0606020202030204" pitchFamily="34" charset="0"/>
              </a:rPr>
              <a:t>If we get a high amplitude tone within </a:t>
            </a:r>
            <a:r>
              <a:rPr lang="en-US" b="1" dirty="0" smtClean="0">
                <a:latin typeface="Arial Narrow" panose="020B0606020202030204" pitchFamily="34" charset="0"/>
              </a:rPr>
              <a:t>a </a:t>
            </a:r>
            <a:r>
              <a:rPr lang="en-US" b="1" dirty="0" err="1" smtClean="0">
                <a:latin typeface="Arial Narrow" panose="020B0606020202030204" pitchFamily="34" charset="0"/>
              </a:rPr>
              <a:t>subband</a:t>
            </a:r>
            <a:r>
              <a:rPr lang="en-US" b="1" dirty="0" smtClean="0">
                <a:latin typeface="Arial Narrow" panose="020B0606020202030204" pitchFamily="34" charset="0"/>
              </a:rPr>
              <a:t> </a:t>
            </a:r>
            <a:r>
              <a:rPr lang="en-US" b="1" dirty="0">
                <a:latin typeface="Arial Narrow" panose="020B0606020202030204" pitchFamily="34" charset="0"/>
              </a:rPr>
              <a:t>and if the </a:t>
            </a:r>
            <a:r>
              <a:rPr lang="en-US" b="1" dirty="0" err="1">
                <a:latin typeface="Arial Narrow" panose="020B0606020202030204" pitchFamily="34" charset="0"/>
              </a:rPr>
              <a:t>subband</a:t>
            </a:r>
            <a:r>
              <a:rPr lang="en-US" b="1" dirty="0">
                <a:latin typeface="Arial Narrow" panose="020B0606020202030204" pitchFamily="34" charset="0"/>
              </a:rPr>
              <a:t> is narrow enough, we can assume that it masked other tones </a:t>
            </a:r>
            <a:r>
              <a:rPr lang="en-US" b="1" dirty="0" smtClean="0">
                <a:latin typeface="Arial Narrow" panose="020B0606020202030204" pitchFamily="34" charset="0"/>
              </a:rPr>
              <a:t>in the </a:t>
            </a:r>
            <a:r>
              <a:rPr lang="en-US" b="1" dirty="0">
                <a:latin typeface="Arial Narrow" panose="020B0606020202030204" pitchFamily="34" charset="0"/>
              </a:rPr>
              <a:t>band. However, if the bandwidth of the </a:t>
            </a:r>
            <a:r>
              <a:rPr lang="en-US" b="1" dirty="0" err="1">
                <a:latin typeface="Arial Narrow" panose="020B0606020202030204" pitchFamily="34" charset="0"/>
              </a:rPr>
              <a:t>subband</a:t>
            </a:r>
            <a:r>
              <a:rPr lang="en-US" b="1" dirty="0">
                <a:latin typeface="Arial Narrow" panose="020B0606020202030204" pitchFamily="34" charset="0"/>
              </a:rPr>
              <a:t> is significantly higher than the </a:t>
            </a:r>
            <a:r>
              <a:rPr lang="en-US" b="1" dirty="0" smtClean="0">
                <a:latin typeface="Arial Narrow" panose="020B0606020202030204" pitchFamily="34" charset="0"/>
              </a:rPr>
              <a:t>critical bandwidth </a:t>
            </a:r>
            <a:r>
              <a:rPr lang="en-US" b="1" dirty="0">
                <a:latin typeface="Arial Narrow" panose="020B0606020202030204" pitchFamily="34" charset="0"/>
              </a:rPr>
              <a:t>at that frequency, it becomes more difficult to determine whether other tones in </a:t>
            </a:r>
            <a:r>
              <a:rPr lang="en-US" b="1" dirty="0" smtClean="0">
                <a:latin typeface="Arial Narrow" panose="020B0606020202030204" pitchFamily="34" charset="0"/>
              </a:rPr>
              <a:t>the </a:t>
            </a:r>
            <a:r>
              <a:rPr lang="en-US" b="1" dirty="0" err="1" smtClean="0">
                <a:latin typeface="Arial Narrow" panose="020B0606020202030204" pitchFamily="34" charset="0"/>
              </a:rPr>
              <a:t>subband</a:t>
            </a:r>
            <a:r>
              <a:rPr lang="en-US" b="1" dirty="0" smtClean="0">
                <a:latin typeface="Arial Narrow" panose="020B0606020202030204" pitchFamily="34" charset="0"/>
              </a:rPr>
              <a:t> </a:t>
            </a:r>
            <a:r>
              <a:rPr lang="en-US" b="1" dirty="0">
                <a:latin typeface="Arial Narrow" panose="020B0606020202030204" pitchFamily="34" charset="0"/>
              </a:rPr>
              <a:t>will be masked</a:t>
            </a:r>
            <a:r>
              <a:rPr lang="en-US" b="1" dirty="0" smtClean="0">
                <a:latin typeface="Arial Narrow" panose="020B0606020202030204" pitchFamily="34" charset="0"/>
              </a:rPr>
              <a:t>.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A simple way to increase the spectral resolution would be to decompose the signal directly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into a higher number of bands. However, one of the requirements on the Layer III algorithm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is that it be backward compatible with Layer I and Layer II coders. To satisfy this backward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compatibility requirement, the spectral decomposition in the Layer III algorithm is performed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in two stages. </a:t>
            </a:r>
          </a:p>
        </p:txBody>
      </p:sp>
    </p:spTree>
    <p:extLst>
      <p:ext uri="{BB962C8B-B14F-4D97-AF65-F5344CB8AC3E}">
        <p14:creationId xmlns:p14="http://schemas.microsoft.com/office/powerpoint/2010/main" val="491942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rial Narrow" panose="020B0606020202030204" pitchFamily="34" charset="0"/>
              </a:rPr>
              <a:t>First the 32-band </a:t>
            </a:r>
            <a:r>
              <a:rPr lang="en-US" b="1" dirty="0" err="1">
                <a:latin typeface="Arial Narrow" panose="020B0606020202030204" pitchFamily="34" charset="0"/>
              </a:rPr>
              <a:t>subband</a:t>
            </a:r>
            <a:r>
              <a:rPr lang="en-US" b="1" dirty="0">
                <a:latin typeface="Arial Narrow" panose="020B0606020202030204" pitchFamily="34" charset="0"/>
              </a:rPr>
              <a:t> decomposition used in Layer I and Layer II is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employed. The output of each </a:t>
            </a:r>
            <a:r>
              <a:rPr lang="en-US" b="1" dirty="0" err="1">
                <a:latin typeface="Arial Narrow" panose="020B0606020202030204" pitchFamily="34" charset="0"/>
              </a:rPr>
              <a:t>subband</a:t>
            </a:r>
            <a:r>
              <a:rPr lang="en-US" b="1" dirty="0">
                <a:latin typeface="Arial Narrow" panose="020B0606020202030204" pitchFamily="34" charset="0"/>
              </a:rPr>
              <a:t> is then transformed using a modified discrete cosine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transform (MDCT) with a 50% overlap. The Layer III algorithm specifies two sizes for the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MDCT, 6 or 18. This means that the output of each </a:t>
            </a:r>
            <a:r>
              <a:rPr lang="en-US" b="1" dirty="0" err="1">
                <a:latin typeface="Arial Narrow" panose="020B0606020202030204" pitchFamily="34" charset="0"/>
              </a:rPr>
              <a:t>subband</a:t>
            </a:r>
            <a:r>
              <a:rPr lang="en-US" b="1" dirty="0">
                <a:latin typeface="Arial Narrow" panose="020B0606020202030204" pitchFamily="34" charset="0"/>
              </a:rPr>
              <a:t> can be decomposed into 18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frequency coefficients or 6 frequency coefficients</a:t>
            </a:r>
            <a:r>
              <a:rPr lang="en-US" b="1" dirty="0" smtClean="0">
                <a:latin typeface="Arial Narrow" panose="020B0606020202030204" pitchFamily="34" charset="0"/>
              </a:rPr>
              <a:t>.</a:t>
            </a:r>
          </a:p>
          <a:p>
            <a:r>
              <a:rPr lang="en-US" b="1" dirty="0" smtClean="0">
                <a:latin typeface="Arial Narrow" panose="020B0606020202030204" pitchFamily="34" charset="0"/>
              </a:rPr>
              <a:t>Because of this </a:t>
            </a:r>
            <a:r>
              <a:rPr lang="en-US" b="1" dirty="0">
                <a:latin typeface="Arial Narrow" panose="020B0606020202030204" pitchFamily="34" charset="0"/>
              </a:rPr>
              <a:t>high level of </a:t>
            </a:r>
            <a:r>
              <a:rPr lang="en-US" b="1" dirty="0" smtClean="0">
                <a:latin typeface="Arial Narrow" panose="020B0606020202030204" pitchFamily="34" charset="0"/>
              </a:rPr>
              <a:t>compression of MP3 compression :</a:t>
            </a:r>
            <a:endParaRPr lang="en-US" b="1" dirty="0">
              <a:latin typeface="Arial Narrow" panose="020B0606020202030204" pitchFamily="34" charset="0"/>
            </a:endParaRPr>
          </a:p>
          <a:p>
            <a:r>
              <a:rPr lang="en-US" b="1" dirty="0">
                <a:latin typeface="Arial Narrow" panose="020B0606020202030204" pitchFamily="34" charset="0"/>
              </a:rPr>
              <a:t>most people cannot tell the difference between the original and the compressed representation</a:t>
            </a:r>
            <a:r>
              <a:rPr lang="en-US" b="1" dirty="0" smtClean="0">
                <a:latin typeface="Arial Narrow" panose="020B0606020202030204" pitchFamily="34" charset="0"/>
              </a:rPr>
              <a:t>.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This development process has made MP3 the format of choice for compressed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music.</a:t>
            </a:r>
          </a:p>
          <a:p>
            <a:endParaRPr lang="en-US" b="1" dirty="0">
              <a:latin typeface="Arial Narrow" panose="020B0606020202030204" pitchFamily="34" charset="0"/>
            </a:endParaRPr>
          </a:p>
          <a:p>
            <a:endParaRPr lang="en-US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829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5400" b="1" dirty="0" smtClean="0"/>
              <a:t>Can we modify MP3 Mechanism ? </a:t>
            </a:r>
            <a:r>
              <a:rPr lang="en-US" sz="5400" b="1" smtClean="0"/>
              <a:t>How </a:t>
            </a:r>
            <a:r>
              <a:rPr lang="en-US" sz="5400" b="1" smtClean="0"/>
              <a:t>??</a:t>
            </a:r>
            <a:endParaRPr lang="en-US" sz="5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The MPEG Layer III algorithm has been highly successful. However, it has some built-in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drawbacks because of the constraints under which it was designed. The principal constraint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was the requirement that it be backward compatible. This requirement for backward compatibility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forced the rather awkward decomposition structure involving a </a:t>
            </a:r>
            <a:r>
              <a:rPr lang="en-US" b="1" dirty="0" err="1">
                <a:latin typeface="Arial Narrow" panose="020B0606020202030204" pitchFamily="34" charset="0"/>
              </a:rPr>
              <a:t>subband</a:t>
            </a:r>
            <a:r>
              <a:rPr lang="en-US" b="1" dirty="0">
                <a:latin typeface="Arial Narrow" panose="020B0606020202030204" pitchFamily="34" charset="0"/>
              </a:rPr>
              <a:t> decomposition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followed by an MDCT decomposition. The period immediately following the release of the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MPEG specifications also saw major developments in hardware capability. The Advanced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Audio Coding (AAC) standard was approved as a higher quality multichannel alternative to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the backward compatible MPEG Layer III in 1997.</a:t>
            </a:r>
          </a:p>
        </p:txBody>
      </p:sp>
    </p:spTree>
    <p:extLst>
      <p:ext uri="{BB962C8B-B14F-4D97-AF65-F5344CB8AC3E}">
        <p14:creationId xmlns:p14="http://schemas.microsoft.com/office/powerpoint/2010/main" val="1217272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rial Narrow" panose="020B0606020202030204" pitchFamily="34" charset="0"/>
              </a:rPr>
              <a:t>The AAC standard takes a modular approach based on a set of self-contained tools or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modules. Some of these tools are taken from the earlier MPEG audio standard while others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are new. As with previous standards, the AAC standard actually specifies the decoder. </a:t>
            </a:r>
            <a:endParaRPr lang="en-US" b="1" dirty="0" smtClean="0">
              <a:latin typeface="Arial Narrow" panose="020B0606020202030204" pitchFamily="34" charset="0"/>
            </a:endParaRPr>
          </a:p>
          <a:p>
            <a:r>
              <a:rPr lang="en-US" b="1" dirty="0">
                <a:latin typeface="Arial Narrow" panose="020B0606020202030204" pitchFamily="34" charset="0"/>
              </a:rPr>
              <a:t>By using some or all of these </a:t>
            </a:r>
            <a:r>
              <a:rPr lang="en-US" b="1" dirty="0" smtClean="0">
                <a:latin typeface="Arial Narrow" panose="020B0606020202030204" pitchFamily="34" charset="0"/>
              </a:rPr>
              <a:t>tools(The decoder </a:t>
            </a:r>
            <a:r>
              <a:rPr lang="en-US" b="1" dirty="0">
                <a:latin typeface="Arial Narrow" panose="020B0606020202030204" pitchFamily="34" charset="0"/>
              </a:rPr>
              <a:t>tools specified in the AAC </a:t>
            </a:r>
            <a:r>
              <a:rPr lang="en-US" b="1" dirty="0" smtClean="0">
                <a:latin typeface="Arial Narrow" panose="020B0606020202030204" pitchFamily="34" charset="0"/>
              </a:rPr>
              <a:t>standard ), </a:t>
            </a:r>
            <a:r>
              <a:rPr lang="en-US" b="1" dirty="0">
                <a:latin typeface="Arial Narrow" panose="020B0606020202030204" pitchFamily="34" charset="0"/>
              </a:rPr>
              <a:t>the standard describes three profiles. These are </a:t>
            </a:r>
            <a:r>
              <a:rPr lang="en-US" b="1" dirty="0" smtClean="0">
                <a:latin typeface="Arial Narrow" panose="020B0606020202030204" pitchFamily="34" charset="0"/>
              </a:rPr>
              <a:t>the </a:t>
            </a:r>
            <a:r>
              <a:rPr lang="en-US" b="1" i="1" dirty="0" smtClean="0">
                <a:latin typeface="Arial Narrow" panose="020B0606020202030204" pitchFamily="34" charset="0"/>
              </a:rPr>
              <a:t>main </a:t>
            </a:r>
            <a:r>
              <a:rPr lang="en-US" b="1" dirty="0">
                <a:latin typeface="Arial Narrow" panose="020B0606020202030204" pitchFamily="34" charset="0"/>
              </a:rPr>
              <a:t>profile, the </a:t>
            </a:r>
            <a:r>
              <a:rPr lang="en-US" b="1" i="1" dirty="0">
                <a:latin typeface="Arial Narrow" panose="020B0606020202030204" pitchFamily="34" charset="0"/>
              </a:rPr>
              <a:t>low complexity </a:t>
            </a:r>
            <a:r>
              <a:rPr lang="en-US" b="1" dirty="0">
                <a:latin typeface="Arial Narrow" panose="020B0606020202030204" pitchFamily="34" charset="0"/>
              </a:rPr>
              <a:t>profile, and the </a:t>
            </a:r>
            <a:r>
              <a:rPr lang="en-US" b="1" i="1" dirty="0">
                <a:latin typeface="Arial Narrow" panose="020B0606020202030204" pitchFamily="34" charset="0"/>
              </a:rPr>
              <a:t>sampling-rate-scalable </a:t>
            </a:r>
            <a:r>
              <a:rPr lang="en-US" b="1" dirty="0">
                <a:latin typeface="Arial Narrow" panose="020B0606020202030204" pitchFamily="34" charset="0"/>
              </a:rPr>
              <a:t>profile. The </a:t>
            </a:r>
            <a:r>
              <a:rPr lang="en-US" b="1" dirty="0" smtClean="0">
                <a:latin typeface="Arial Narrow" panose="020B0606020202030204" pitchFamily="34" charset="0"/>
              </a:rPr>
              <a:t>AAC approach </a:t>
            </a:r>
            <a:r>
              <a:rPr lang="en-US" b="1" dirty="0">
                <a:latin typeface="Arial Narrow" panose="020B0606020202030204" pitchFamily="34" charset="0"/>
              </a:rPr>
              <a:t>used inMPEG-2was later enhanced and modified to provide an audio coding option </a:t>
            </a:r>
            <a:r>
              <a:rPr lang="en-US" b="1" dirty="0" smtClean="0">
                <a:latin typeface="Arial Narrow" panose="020B0606020202030204" pitchFamily="34" charset="0"/>
              </a:rPr>
              <a:t>in MPEG-4</a:t>
            </a:r>
            <a:r>
              <a:rPr lang="en-US" b="1" dirty="0">
                <a:latin typeface="Arial Narrow" panose="020B0606020202030204" pitchFamily="34" charset="0"/>
              </a:rPr>
              <a:t>. In the following section we first describe the MPEG-2 AAC algorithm, followed </a:t>
            </a:r>
            <a:r>
              <a:rPr lang="en-US" b="1" dirty="0" smtClean="0">
                <a:latin typeface="Arial Narrow" panose="020B0606020202030204" pitchFamily="34" charset="0"/>
              </a:rPr>
              <a:t>by the </a:t>
            </a:r>
            <a:r>
              <a:rPr lang="en-US" b="1" dirty="0">
                <a:latin typeface="Arial Narrow" panose="020B0606020202030204" pitchFamily="34" charset="0"/>
              </a:rPr>
              <a:t>MPEG-4 AAC algorithm.</a:t>
            </a:r>
          </a:p>
        </p:txBody>
      </p:sp>
    </p:spTree>
    <p:extLst>
      <p:ext uri="{BB962C8B-B14F-4D97-AF65-F5344CB8AC3E}">
        <p14:creationId xmlns:p14="http://schemas.microsoft.com/office/powerpoint/2010/main" val="349136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 smtClean="0"/>
              <a:t>MPEG-2 AAC  small overview :</a:t>
            </a:r>
            <a:endParaRPr lang="en-US" sz="5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latin typeface="Arial Narrow" panose="020B0606020202030204" pitchFamily="34" charset="0"/>
              </a:rPr>
              <a:t>Because the AAC algorithm is not backward compatible it does away with the requirement of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the 32-band filter bank. Instead, the frequency decomposition is accomplished by a modified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discrete cosine transform (MDCT). </a:t>
            </a:r>
            <a:r>
              <a:rPr lang="en-US" b="1" dirty="0" err="1">
                <a:latin typeface="Arial Narrow" panose="020B0606020202030204" pitchFamily="34" charset="0"/>
              </a:rPr>
              <a:t>TheMDCTis</a:t>
            </a:r>
            <a:r>
              <a:rPr lang="en-US" b="1" dirty="0">
                <a:latin typeface="Arial Narrow" panose="020B0606020202030204" pitchFamily="34" charset="0"/>
              </a:rPr>
              <a:t> described in Chapter 13. </a:t>
            </a:r>
            <a:r>
              <a:rPr lang="en-US" b="1" dirty="0" err="1">
                <a:latin typeface="Arial Narrow" panose="020B0606020202030204" pitchFamily="34" charset="0"/>
              </a:rPr>
              <a:t>TheAACalgorithm</a:t>
            </a:r>
            <a:endParaRPr lang="en-US" b="1" dirty="0">
              <a:latin typeface="Arial Narrow" panose="020B0606020202030204" pitchFamily="34" charset="0"/>
            </a:endParaRPr>
          </a:p>
          <a:p>
            <a:r>
              <a:rPr lang="en-US" b="1" dirty="0">
                <a:latin typeface="Arial Narrow" panose="020B0606020202030204" pitchFamily="34" charset="0"/>
              </a:rPr>
              <a:t>allows switching between a window length of 2048 samples and 256 samples. These window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lengths include a 50% overlap with neighboring blocks. So 2048 time samples are used to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generate 1024 spectral coefficients, and 256 time samples are used to generate 128 frequency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coefficients</a:t>
            </a:r>
            <a:r>
              <a:rPr lang="en-US" b="1" dirty="0" smtClean="0">
                <a:latin typeface="Arial Narrow" panose="020B0606020202030204" pitchFamily="34" charset="0"/>
              </a:rPr>
              <a:t>.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The quantization and coding strategy used in AAC is similar to what is used in MPEG Layer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III. </a:t>
            </a:r>
            <a:r>
              <a:rPr lang="en-US" b="1" dirty="0" err="1">
                <a:latin typeface="Arial Narrow" panose="020B0606020202030204" pitchFamily="34" charset="0"/>
              </a:rPr>
              <a:t>Scalefactors</a:t>
            </a:r>
            <a:r>
              <a:rPr lang="en-US" b="1" dirty="0">
                <a:latin typeface="Arial Narrow" panose="020B0606020202030204" pitchFamily="34" charset="0"/>
              </a:rPr>
              <a:t> are used to control the quantization noise as part of an outer </a:t>
            </a:r>
            <a:r>
              <a:rPr lang="en-US" b="1" i="1" dirty="0">
                <a:latin typeface="Arial Narrow" panose="020B0606020202030204" pitchFamily="34" charset="0"/>
              </a:rPr>
              <a:t>distortion control</a:t>
            </a:r>
            <a:endParaRPr lang="en-US" b="1" dirty="0">
              <a:latin typeface="Arial Narrow" panose="020B0606020202030204" pitchFamily="34" charset="0"/>
            </a:endParaRPr>
          </a:p>
          <a:p>
            <a:r>
              <a:rPr lang="en-US" b="1" i="1" dirty="0">
                <a:latin typeface="Arial Narrow" panose="020B0606020202030204" pitchFamily="34" charset="0"/>
              </a:rPr>
              <a:t>loop</a:t>
            </a:r>
            <a:r>
              <a:rPr lang="en-US" b="1" dirty="0">
                <a:latin typeface="Arial Narrow" panose="020B060602020203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3745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The quantization step size is adjusted to accommodate a target bit rate in an inner </a:t>
            </a:r>
            <a:r>
              <a:rPr lang="en-US" b="1" i="1" dirty="0">
                <a:latin typeface="Arial Narrow" panose="020B0606020202030204" pitchFamily="34" charset="0"/>
              </a:rPr>
              <a:t>rate</a:t>
            </a:r>
            <a:endParaRPr lang="en-US" b="1" dirty="0">
              <a:latin typeface="Arial Narrow" panose="020B0606020202030204" pitchFamily="34" charset="0"/>
            </a:endParaRPr>
          </a:p>
          <a:p>
            <a:r>
              <a:rPr lang="en-US" b="1" i="1" dirty="0">
                <a:latin typeface="Arial Narrow" panose="020B0606020202030204" pitchFamily="34" charset="0"/>
              </a:rPr>
              <a:t>control loop</a:t>
            </a:r>
            <a:r>
              <a:rPr lang="en-US" b="1" dirty="0">
                <a:latin typeface="Arial Narrow" panose="020B0606020202030204" pitchFamily="34" charset="0"/>
              </a:rPr>
              <a:t>. The quantized coefficients are grouped into </a:t>
            </a:r>
            <a:r>
              <a:rPr lang="en-US" b="1" i="1" dirty="0">
                <a:latin typeface="Arial Narrow" panose="020B0606020202030204" pitchFamily="34" charset="0"/>
              </a:rPr>
              <a:t>sections</a:t>
            </a:r>
            <a:r>
              <a:rPr lang="en-US" b="1" dirty="0">
                <a:latin typeface="Arial Narrow" panose="020B0606020202030204" pitchFamily="34" charset="0"/>
              </a:rPr>
              <a:t>. The section boundaries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have to coincide with </a:t>
            </a:r>
            <a:r>
              <a:rPr lang="en-US" b="1" dirty="0" err="1">
                <a:latin typeface="Arial Narrow" panose="020B0606020202030204" pitchFamily="34" charset="0"/>
              </a:rPr>
              <a:t>scalefactor</a:t>
            </a:r>
            <a:r>
              <a:rPr lang="en-US" b="1" dirty="0">
                <a:latin typeface="Arial Narrow" panose="020B0606020202030204" pitchFamily="34" charset="0"/>
              </a:rPr>
              <a:t> band boundaries. The quantized coefficients in each section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are coded using the same Huffman codebook. The partitioning of the coefficients into sections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is a dynamic process based on a greedy merge procedure. The procedure starts with the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maximum number of sections. Sections are merged if the overall bit rate can be reduced by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merging. Merging those sections will result in </a:t>
            </a:r>
            <a:r>
              <a:rPr lang="en-US" b="1" dirty="0" err="1">
                <a:latin typeface="Arial Narrow" panose="020B0606020202030204" pitchFamily="34" charset="0"/>
              </a:rPr>
              <a:t>themaximum</a:t>
            </a:r>
            <a:r>
              <a:rPr lang="en-US" b="1" dirty="0">
                <a:latin typeface="Arial Narrow" panose="020B0606020202030204" pitchFamily="34" charset="0"/>
              </a:rPr>
              <a:t> reduction in bit rate. This iterative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procedure is continued until there is no further reduction in the bit rate.</a:t>
            </a:r>
          </a:p>
        </p:txBody>
      </p:sp>
    </p:spTree>
    <p:extLst>
      <p:ext uri="{BB962C8B-B14F-4D97-AF65-F5344CB8AC3E}">
        <p14:creationId xmlns:p14="http://schemas.microsoft.com/office/powerpoint/2010/main" val="1569944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MPEG-4 </a:t>
            </a:r>
            <a:r>
              <a:rPr lang="en-US" sz="5400" b="1" dirty="0" smtClean="0"/>
              <a:t>AAC small overview :</a:t>
            </a:r>
            <a:endParaRPr lang="en-US" sz="5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 smtClean="0">
              <a:latin typeface="Arial Narrow" panose="020B0606020202030204" pitchFamily="34" charset="0"/>
            </a:endParaRPr>
          </a:p>
          <a:p>
            <a:r>
              <a:rPr lang="en-US" b="1" dirty="0" smtClean="0">
                <a:latin typeface="Arial Narrow" panose="020B0606020202030204" pitchFamily="34" charset="0"/>
              </a:rPr>
              <a:t>MPEG-4 AAC ( an update of MPEG-2 AAC ) </a:t>
            </a:r>
            <a:r>
              <a:rPr lang="en-US" b="1" dirty="0">
                <a:latin typeface="Arial Narrow" panose="020B0606020202030204" pitchFamily="34" charset="0"/>
              </a:rPr>
              <a:t>adds a perceptual noise substitution (PNS) tool and substitutes a long </a:t>
            </a:r>
            <a:r>
              <a:rPr lang="en-US" b="1" dirty="0" smtClean="0">
                <a:latin typeface="Arial Narrow" panose="020B0606020202030204" pitchFamily="34" charset="0"/>
              </a:rPr>
              <a:t>term prediction </a:t>
            </a:r>
            <a:r>
              <a:rPr lang="en-US" b="1" dirty="0">
                <a:latin typeface="Arial Narrow" panose="020B0606020202030204" pitchFamily="34" charset="0"/>
              </a:rPr>
              <a:t>(LTP) tool for the </a:t>
            </a:r>
            <a:r>
              <a:rPr lang="en-US" b="1" dirty="0" err="1">
                <a:latin typeface="Arial Narrow" panose="020B0606020202030204" pitchFamily="34" charset="0"/>
              </a:rPr>
              <a:t>interband</a:t>
            </a:r>
            <a:r>
              <a:rPr lang="en-US" b="1" dirty="0">
                <a:latin typeface="Arial Narrow" panose="020B0606020202030204" pitchFamily="34" charset="0"/>
              </a:rPr>
              <a:t> prediction tool in the spectral coding block. In the </a:t>
            </a:r>
            <a:r>
              <a:rPr lang="en-US" b="1" dirty="0" smtClean="0">
                <a:latin typeface="Arial Narrow" panose="020B0606020202030204" pitchFamily="34" charset="0"/>
              </a:rPr>
              <a:t>quantization and </a:t>
            </a:r>
            <a:r>
              <a:rPr lang="en-US" b="1" dirty="0">
                <a:latin typeface="Arial Narrow" panose="020B0606020202030204" pitchFamily="34" charset="0"/>
              </a:rPr>
              <a:t>coding section MPEG-4 AAC adds the options of Transform-Domain </a:t>
            </a:r>
            <a:r>
              <a:rPr lang="en-US" b="1" dirty="0" smtClean="0">
                <a:latin typeface="Arial Narrow" panose="020B0606020202030204" pitchFamily="34" charset="0"/>
              </a:rPr>
              <a:t>Weighted Interleave </a:t>
            </a:r>
            <a:r>
              <a:rPr lang="en-US" b="1" dirty="0">
                <a:latin typeface="Arial Narrow" panose="020B0606020202030204" pitchFamily="34" charset="0"/>
              </a:rPr>
              <a:t>Vector Quantization (</a:t>
            </a:r>
            <a:r>
              <a:rPr lang="en-US" b="1" dirty="0" err="1">
                <a:latin typeface="Arial Narrow" panose="020B0606020202030204" pitchFamily="34" charset="0"/>
              </a:rPr>
              <a:t>TwinVQ</a:t>
            </a:r>
            <a:r>
              <a:rPr lang="en-US" b="1" dirty="0">
                <a:latin typeface="Arial Narrow" panose="020B0606020202030204" pitchFamily="34" charset="0"/>
              </a:rPr>
              <a:t>) and Bit Sliced Arithmetic Coding (BSAC).</a:t>
            </a:r>
          </a:p>
        </p:txBody>
      </p:sp>
    </p:spTree>
    <p:extLst>
      <p:ext uri="{BB962C8B-B14F-4D97-AF65-F5344CB8AC3E}">
        <p14:creationId xmlns:p14="http://schemas.microsoft.com/office/powerpoint/2010/main" val="2177891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5400" b="1" dirty="0" smtClean="0"/>
              <a:t>Other techniques for audio compression:</a:t>
            </a:r>
            <a:endParaRPr lang="en-US" sz="5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rial Narrow" panose="020B0606020202030204" pitchFamily="34" charset="0"/>
              </a:rPr>
              <a:t>We have described a number of audio compression approaches that make use of the limitations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of human audio perception. These are by no means the only ones. Competitors to </a:t>
            </a:r>
            <a:r>
              <a:rPr lang="en-US" b="1" dirty="0" err="1">
                <a:latin typeface="Arial Narrow" panose="020B0606020202030204" pitchFamily="34" charset="0"/>
              </a:rPr>
              <a:t>DolbyDigital</a:t>
            </a:r>
            <a:endParaRPr lang="en-US" b="1" dirty="0">
              <a:latin typeface="Arial Narrow" panose="020B0606020202030204" pitchFamily="34" charset="0"/>
            </a:endParaRPr>
          </a:p>
          <a:p>
            <a:r>
              <a:rPr lang="en-US" b="1" dirty="0">
                <a:latin typeface="Arial Narrow" panose="020B0606020202030204" pitchFamily="34" charset="0"/>
              </a:rPr>
              <a:t>include Digital Theater Systems (DTS) and Sony Dynamic Digital Sound (SDDS). Both of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these proprietary schemes use psychoacoustic modeling. The Adaptive </a:t>
            </a:r>
            <a:r>
              <a:rPr lang="en-US" b="1" dirty="0" err="1">
                <a:latin typeface="Arial Narrow" panose="020B0606020202030204" pitchFamily="34" charset="0"/>
              </a:rPr>
              <a:t>TRansform</a:t>
            </a:r>
            <a:r>
              <a:rPr lang="en-US" b="1" dirty="0">
                <a:latin typeface="Arial Narrow" panose="020B0606020202030204" pitchFamily="34" charset="0"/>
              </a:rPr>
              <a:t> Acoustic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Coding (ATRAC) algorithm  was developed for the </a:t>
            </a:r>
            <a:r>
              <a:rPr lang="en-US" b="1" dirty="0" err="1">
                <a:latin typeface="Arial Narrow" panose="020B0606020202030204" pitchFamily="34" charset="0"/>
              </a:rPr>
              <a:t>MiniDisc</a:t>
            </a:r>
            <a:r>
              <a:rPr lang="en-US" b="1" dirty="0">
                <a:latin typeface="Arial Narrow" panose="020B0606020202030204" pitchFamily="34" charset="0"/>
              </a:rPr>
              <a:t> by Sony in the early 1990s,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followed by enhancements inATRAC3 andATRAC3plus. As with the other schemes described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in this report, the ATRAC approach uses MDCT for frequency decomposition, though the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audio signal is first decomposed into three bands using a two-stage decomposition.</a:t>
            </a:r>
          </a:p>
        </p:txBody>
      </p:sp>
    </p:spTree>
    <p:extLst>
      <p:ext uri="{BB962C8B-B14F-4D97-AF65-F5344CB8AC3E}">
        <p14:creationId xmlns:p14="http://schemas.microsoft.com/office/powerpoint/2010/main" val="778360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 smtClean="0">
              <a:latin typeface="Arial Narrow" panose="020B0606020202030204" pitchFamily="34" charset="0"/>
            </a:endParaRPr>
          </a:p>
          <a:p>
            <a:r>
              <a:rPr lang="en-US" b="1" dirty="0" smtClean="0">
                <a:latin typeface="Arial Narrow" panose="020B0606020202030204" pitchFamily="34" charset="0"/>
              </a:rPr>
              <a:t>As </a:t>
            </a:r>
            <a:r>
              <a:rPr lang="en-US" b="1" dirty="0">
                <a:latin typeface="Arial Narrow" panose="020B0606020202030204" pitchFamily="34" charset="0"/>
              </a:rPr>
              <a:t>in </a:t>
            </a:r>
            <a:r>
              <a:rPr lang="en-US" b="1" dirty="0" smtClean="0">
                <a:latin typeface="Arial Narrow" panose="020B0606020202030204" pitchFamily="34" charset="0"/>
              </a:rPr>
              <a:t>the case </a:t>
            </a:r>
            <a:r>
              <a:rPr lang="en-US" b="1" dirty="0">
                <a:latin typeface="Arial Narrow" panose="020B0606020202030204" pitchFamily="34" charset="0"/>
              </a:rPr>
              <a:t>of the other schemes, the ATRAC algorithm recommends the use of the limitations of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human audio perception in order to discard information that is not perceptible.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Another algorithm that also uses MDCT and a psychoacoustic model is the open source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encoder </a:t>
            </a:r>
            <a:r>
              <a:rPr lang="en-US" b="1" dirty="0" err="1">
                <a:latin typeface="Arial Narrow" panose="020B0606020202030204" pitchFamily="34" charset="0"/>
              </a:rPr>
              <a:t>Vorbis</a:t>
            </a:r>
            <a:r>
              <a:rPr lang="en-US" b="1" dirty="0">
                <a:latin typeface="Arial Narrow" panose="020B0606020202030204" pitchFamily="34" charset="0"/>
              </a:rPr>
              <a:t>. The </a:t>
            </a:r>
            <a:r>
              <a:rPr lang="en-US" b="1" dirty="0" err="1">
                <a:latin typeface="Arial Narrow" panose="020B0606020202030204" pitchFamily="34" charset="0"/>
              </a:rPr>
              <a:t>Vorbis</a:t>
            </a:r>
            <a:r>
              <a:rPr lang="en-US" b="1" dirty="0">
                <a:latin typeface="Arial Narrow" panose="020B0606020202030204" pitchFamily="34" charset="0"/>
              </a:rPr>
              <a:t> algorithm also uses vector quantization and Huffman coding to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reduce the bit rate.</a:t>
            </a:r>
          </a:p>
        </p:txBody>
      </p:sp>
    </p:spTree>
    <p:extLst>
      <p:ext uri="{BB962C8B-B14F-4D97-AF65-F5344CB8AC3E}">
        <p14:creationId xmlns:p14="http://schemas.microsoft.com/office/powerpoint/2010/main" val="2501589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 smtClean="0"/>
              <a:t>References :</a:t>
            </a:r>
            <a:endParaRPr lang="en-US" sz="5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800" b="1" dirty="0" smtClean="0"/>
          </a:p>
          <a:p>
            <a:endParaRPr lang="en-US" sz="2800" b="1" dirty="0"/>
          </a:p>
          <a:p>
            <a:r>
              <a:rPr lang="en-US" sz="2800" b="1" dirty="0"/>
              <a:t>Khalid </a:t>
            </a:r>
            <a:r>
              <a:rPr lang="en-US" sz="2800" b="1" dirty="0" err="1"/>
              <a:t>Sayood</a:t>
            </a:r>
            <a:r>
              <a:rPr lang="en-US" sz="2800" b="1" dirty="0"/>
              <a:t>, “Introduction to Data Compression”, Fourth Edition, Elsevier 2012. [chapter </a:t>
            </a:r>
            <a:r>
              <a:rPr lang="en-US" sz="2800" b="1" dirty="0" smtClean="0"/>
              <a:t>17] </a:t>
            </a:r>
            <a:endParaRPr lang="en-US" sz="2800" b="1" dirty="0"/>
          </a:p>
          <a:p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42530120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65</TotalTime>
  <Words>1656</Words>
  <Application>Microsoft Office PowerPoint</Application>
  <PresentationFormat>Widescreen</PresentationFormat>
  <Paragraphs>110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Andalus</vt:lpstr>
      <vt:lpstr>Arial Narrow</vt:lpstr>
      <vt:lpstr>Arial Rounded MT Bold</vt:lpstr>
      <vt:lpstr>Calibri</vt:lpstr>
      <vt:lpstr>Calibri Light</vt:lpstr>
      <vt:lpstr>Retrospect</vt:lpstr>
      <vt:lpstr> “Audio Compression “ Report </vt:lpstr>
      <vt:lpstr>Why we need to develop audio compression techniques ?</vt:lpstr>
      <vt:lpstr>PowerPoint Presentation</vt:lpstr>
      <vt:lpstr>What is the main factor of our machinery of hearing mechanism ? </vt:lpstr>
      <vt:lpstr>The main techniques for audio compression :</vt:lpstr>
      <vt:lpstr>PowerPoint Presentation</vt:lpstr>
      <vt:lpstr>PowerPoint Presentation</vt:lpstr>
      <vt:lpstr>PowerPoint Presentation</vt:lpstr>
      <vt:lpstr>Can we modify MP3 Mechanism ? How ??</vt:lpstr>
      <vt:lpstr>PowerPoint Presentation</vt:lpstr>
      <vt:lpstr>MPEG-2 AAC  small overview :</vt:lpstr>
      <vt:lpstr>PowerPoint Presentation</vt:lpstr>
      <vt:lpstr>MPEG-4 AAC small overview :</vt:lpstr>
      <vt:lpstr>Other techniques for audio compression:</vt:lpstr>
      <vt:lpstr>PowerPoint Presentation</vt:lpstr>
      <vt:lpstr>References 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“Sound Compression “ Report </dc:title>
  <dc:creator>Windows User</dc:creator>
  <cp:lastModifiedBy>Windows User</cp:lastModifiedBy>
  <cp:revision>11</cp:revision>
  <dcterms:created xsi:type="dcterms:W3CDTF">2018-04-22T14:40:58Z</dcterms:created>
  <dcterms:modified xsi:type="dcterms:W3CDTF">2018-04-22T16:30:32Z</dcterms:modified>
</cp:coreProperties>
</file>